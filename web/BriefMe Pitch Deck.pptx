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  <ns0:embeddedFont>
      <ns0:font typeface="Pixelify Sans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25c7f219-ae4e-4054-b91e-37b12d217775.fntdata" /><ns0:Relationship Id="rIdFont15" Type="http://schemas.openxmlformats.org/officeDocument/2006/relationships/font" Target="fonts/edd539c2-189d-41f6-b18f-d1a4aed868e7.fntdata" /><ns0:Relationship Id="rIdFont16" Type="http://schemas.openxmlformats.org/officeDocument/2006/relationships/font" Target="fonts/5e1dd9f7-66bd-41b8-ac23-1e6996459ef4.fntdata" /><ns0:Relationship Id="rIdFont17" Type="http://schemas.openxmlformats.org/officeDocument/2006/relationships/font" Target="fonts/76c63a37-4b6c-4a6f-9f1e-633a5abc598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000750"/>
            <a:ext cx="108204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31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00975" y="495300"/>
            <a:ext cx="695325" cy="304800"/>
          </a:xfrm>
          <a:prstGeom prst="roundRect">
            <a:avLst>
              <a:gd name="adj" fmla="val 25000"/>
            </a:avLst>
          </a:prstGeom>
          <a:solidFill>
            <a:srgbClr val="313244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1550" y="495300"/>
            <a:ext cx="1238250" cy="304800"/>
          </a:xfrm>
          <a:prstGeom prst="roundRect">
            <a:avLst>
              <a:gd name="adj" fmla="val 25000"/>
            </a:avLst>
          </a:prstGeom>
          <a:solidFill>
            <a:srgbClr val="313244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25050" y="495300"/>
            <a:ext cx="1581150" cy="304800"/>
          </a:xfrm>
          <a:prstGeom prst="roundRect">
            <a:avLst>
              <a:gd name="adj" fmla="val 25000"/>
            </a:avLst>
          </a:prstGeom>
          <a:solidFill>
            <a:srgbClr val="313244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781175"/>
            <a:ext cx="3810000" cy="3238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650" y="1952625"/>
            <a:ext cx="3467100" cy="289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42925"/>
            <a:ext cx="3190875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AB387"/>
                </a:solidFill>
                <a:latin typeface="Plus Jakarta Sans"/>
              </a:rPr>
              <a:t> ✦ HEALTHCARE &amp; WELLBEING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81725"/>
            <a:ext cx="3798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399B2"/>
                </a:solidFill>
                <a:latin typeface="Plus Jakarta Sans"/>
              </a:rPr>
              <a:t>Pendamping Journaling Terstandarisasi Klinis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4325" y="552450"/>
            <a:ext cx="523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DD6F4"/>
                </a:solidFill>
                <a:latin typeface="Plus Jakarta Sans"/>
              </a:rPr>
              <a:t>Hactiv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4900" y="552450"/>
            <a:ext cx="106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DD6F4"/>
                </a:solidFill>
                <a:latin typeface="Plus Jakarta Sans"/>
              </a:rPr>
              <a:t>IBM Bob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552450"/>
            <a:ext cx="1409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DD6F4"/>
                </a:solidFill>
                <a:latin typeface="Plus Jakarta Sans"/>
              </a:rPr>
              <a:t>CBT Thought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77095"/>
            <a:ext cx="7875984" cy="73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827"/>
              </a:lnSpc>
            </a:pPr>
            <a:r>
              <a:rPr b="1" sz="5550" i="0" u="none">
                <a:solidFill>
                  <a:srgbClr val="FAB387"/>
                </a:solidFill>
                <a:latin typeface="Pixelify Sans"/>
              </a:rPr>
              <a:t>BriefMe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50418"/>
            <a:ext cx="7500937" cy="30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800" i="0" u="none">
                <a:solidFill>
                  <a:srgbClr val="CDD6F4"/>
                </a:solidFill>
                <a:latin typeface="Plus Jakarta Sans"/>
              </a:rPr>
              <a:t>Jembatan antara curhat bebas dan sesi terapi klinis.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92289"/>
            <a:ext cx="6096000" cy="531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0" sz="1350" i="0" u="none">
                <a:solidFill>
                  <a:srgbClr val="A6ADC8"/>
                </a:solidFill>
                <a:latin typeface="Plus Jakarta Sans"/>
              </a:rPr>
              <a:t>AI Copilot yang mentransformasi curhatan harian menjadi Thought Record CBT terstruktur, aman, dan siap diserahkan ke terapis.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591175"/>
            <a:ext cx="10820400" cy="733425"/>
          </a:xfrm>
          <a:prstGeom prst="roundRect">
            <a:avLst>
              <a:gd name="adj" fmla="val 18181"/>
            </a:avLst>
          </a:prstGeom>
          <a:solidFill>
            <a:srgbClr val="E6E9EF"/>
          </a:solidFill>
          <a:ln w="9525">
            <a:solidFill>
              <a:srgbClr val="DC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218878"/>
            <a:ext cx="3454449" cy="2355353"/>
          </a:xfrm>
          <a:prstGeom prst="roundRect">
            <a:avLst>
              <a:gd name="adj" fmla="val 6470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218878"/>
            <a:ext cx="3454449" cy="2355353"/>
          </a:xfrm>
          <a:prstGeom prst="roundRect">
            <a:avLst>
              <a:gd name="adj" fmla="val 6470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218878"/>
            <a:ext cx="3454449" cy="2355353"/>
          </a:xfrm>
          <a:prstGeom prst="roundRect">
            <a:avLst>
              <a:gd name="adj" fmla="val 6470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05275" y="5772150"/>
            <a:ext cx="1533525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72150" y="5772150"/>
            <a:ext cx="190500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10500" y="5772150"/>
            <a:ext cx="1704975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8825" y="5772150"/>
            <a:ext cx="158115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533203"/>
            <a:ext cx="476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2533203"/>
            <a:ext cx="476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2533203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5" y="2666553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2712" y="2666553"/>
            <a:ext cx="18097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5761" y="2666553"/>
            <a:ext cx="180975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" y="533400"/>
            <a:ext cx="1150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ixelify Sans"/>
              </a:rPr>
              <a:t>✦ CELAH YANG KAMI 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9057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4C4F69"/>
                </a:solidFill>
                <a:latin typeface="Plus Jakarta Sans"/>
              </a:rPr>
              <a:t>Hambatan Besar Dalam Menjalani Terapi Mandiri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5867400"/>
            <a:ext cx="293489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5C5F77"/>
                </a:solidFill>
                <a:latin typeface="Plus Jakarta Sans"/>
              </a:rPr>
              <a:t>TARGET PENGGUNA TERBANTU: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180903"/>
            <a:ext cx="38088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C4F69"/>
                </a:solidFill>
                <a:latin typeface="Plus Jakarta Sans"/>
              </a:rPr>
              <a:t>Format Tidak Dikenal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3514278"/>
            <a:ext cx="2997249" cy="745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6C6F85"/>
                </a:solidFill>
                <a:latin typeface="Plus Jakarta Sans"/>
              </a:rPr>
              <a:t>Pengguna bingung menyusun struktur tabel Thought Record standar.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074" y="3180903"/>
            <a:ext cx="38088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C4F69"/>
                </a:solidFill>
                <a:latin typeface="Plus Jakarta Sans"/>
              </a:rPr>
              <a:t>Akses Terapis Terbatas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074" y="3514278"/>
            <a:ext cx="2997249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6C6F85"/>
                </a:solidFill>
                <a:latin typeface="Plus Jakarta Sans"/>
              </a:rPr>
              <a:t>Jadwal konsultasi mahal dan belum tentu tersedia saat krisis datang.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124" y="3180903"/>
            <a:ext cx="38088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C4F69"/>
                </a:solidFill>
                <a:latin typeface="Plus Jakarta Sans"/>
              </a:rPr>
              <a:t>Proses Manual Lambat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8124" y="3514278"/>
            <a:ext cx="2997249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6C6F85"/>
                </a:solidFill>
                <a:latin typeface="Plus Jakarta Sans"/>
              </a:rPr>
              <a:t>Menghabiskan 20–30 menit tanpa konsistensi pencatatan yang jelas.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6725" y="5848350"/>
            <a:ext cx="12858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C4F69"/>
                </a:solidFill>
                <a:latin typeface="Plus Jakarta Sans"/>
              </a:rPr>
              <a:t>Mahasiswa Aktif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848350"/>
            <a:ext cx="16573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C4F69"/>
                </a:solidFill>
                <a:latin typeface="Plus Jakarta Sans"/>
              </a:rPr>
              <a:t>Pekerja &amp; Profesional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1950" y="5848350"/>
            <a:ext cx="14573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C4F69"/>
                </a:solidFill>
                <a:latin typeface="Plus Jakarta Sans"/>
              </a:rPr>
              <a:t>Masyarakat Umum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0275" y="5848350"/>
            <a:ext cx="13335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C4F69"/>
                </a:solidFill>
                <a:latin typeface="Plus Jakarta Sans"/>
              </a:rPr>
              <a:t>Konselor Pemula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838825"/>
            <a:ext cx="10820400" cy="485775"/>
          </a:xfrm>
          <a:prstGeom prst="roundRect">
            <a:avLst>
              <a:gd name="adj" fmla="val 23529"/>
            </a:avLst>
          </a:prstGeom>
          <a:solidFill>
            <a:srgbClr val="E6E9EF"/>
          </a:solidFill>
          <a:ln w="9525">
            <a:solidFill>
              <a:srgbClr val="DC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953517"/>
            <a:ext cx="3454449" cy="3133725"/>
          </a:xfrm>
          <a:prstGeom prst="roundRect">
            <a:avLst>
              <a:gd name="adj" fmla="val 4863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1953517"/>
            <a:ext cx="3454449" cy="3133725"/>
          </a:xfrm>
          <a:prstGeom prst="roundRect">
            <a:avLst>
              <a:gd name="adj" fmla="val 4863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1953517"/>
            <a:ext cx="3454449" cy="3133725"/>
          </a:xfrm>
          <a:prstGeom prst="roundRect">
            <a:avLst>
              <a:gd name="adj" fmla="val 4863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2025" y="4410967"/>
            <a:ext cx="2901999" cy="9525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45074" y="4410967"/>
            <a:ext cx="2901999" cy="9525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8124" y="4410967"/>
            <a:ext cx="2901999" cy="9525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3400"/>
            <a:ext cx="1150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ixelify Sans"/>
              </a:rPr>
              <a:t>✦ KEUNGGULAN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9057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4C4F69"/>
                </a:solidFill>
                <a:latin typeface="Plus Jakarta Sans"/>
              </a:rPr>
              <a:t>3 Pilar Pembeda BriefMe dari AI Konvensional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4162" y="5981700"/>
            <a:ext cx="8179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C4F69"/>
                </a:solidFill>
                <a:latin typeface="Plus Jakarta Sans"/>
              </a:rPr>
              <a:t>Fokus BriefMe: Membantu proses pra-sesi, bukan menggantikan keahlian terapis manusia.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2286892"/>
            <a:ext cx="2997249" cy="1628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"/>
              </a:rPr>
              <a:t> 01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544317"/>
            <a:ext cx="2997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79299"/>
                </a:solidFill>
                <a:latin typeface="Plus Jakarta Sans"/>
              </a:rPr>
              <a:t> ✓ Safe By Design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074" y="2286892"/>
            <a:ext cx="2997249" cy="1895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7287FD"/>
                </a:solidFill>
                <a:latin typeface="Plus Jakarta Sans"/>
              </a:rPr>
              <a:t> 02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074" y="4544317"/>
            <a:ext cx="2997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287FD"/>
                </a:solidFill>
                <a:latin typeface="Plus Jakarta Sans"/>
              </a:rPr>
              <a:t> ✓ Prinsip Asli CBT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2286892"/>
            <a:ext cx="2997249" cy="1628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179299"/>
                </a:solidFill>
                <a:latin typeface="Plus Jakarta Sans"/>
              </a:rPr>
              <a:t> 03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4544317"/>
            <a:ext cx="2997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79299"/>
                </a:solidFill>
                <a:latin typeface="Plus Jakarta Sans"/>
              </a:rPr>
              <a:t> ✓ Siap Diserahkan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2763142"/>
            <a:ext cx="380887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C4F69"/>
                </a:solidFill>
                <a:latin typeface="Plus Jakarta Sans"/>
              </a:rPr>
              <a:t>Guardrail Mental Berlapis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144142"/>
            <a:ext cx="29972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C6F85"/>
                </a:solidFill>
                <a:latin typeface="Plus Jakarta Sans"/>
              </a:rPr>
              <a:t>5 lapis validasi (G1–G5). Tanpa diagnosis mandiri maupun instruksi medis berbahaya.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074" y="2763142"/>
            <a:ext cx="314711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C4F69"/>
                </a:solidFill>
                <a:latin typeface="Plus Jakarta Sans"/>
              </a:rPr>
              <a:t>Pendekatan Hybrid Human-AI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074" y="3410842"/>
            <a:ext cx="29972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C6F85"/>
                </a:solidFill>
                <a:latin typeface="Plus Jakarta Sans"/>
              </a:rPr>
              <a:t>Kolom Pikiran Alternatif sengaja dikosongkan agar pengguna berpikir reflektif mandiri.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124" y="2763142"/>
            <a:ext cx="380887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C4F69"/>
                </a:solidFill>
                <a:latin typeface="Plus Jakarta Sans"/>
              </a:rPr>
              <a:t>Dokumen Siap Meja Terapi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124" y="3144142"/>
            <a:ext cx="29972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C6F85"/>
                </a:solidFill>
                <a:latin typeface="Plus Jakarta Sans"/>
              </a:rPr>
              <a:t>Ekspor .docx berstandar medis dengan catatan objektif-klinis yang rapi dan seragam.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857875"/>
            <a:ext cx="10820400" cy="466725"/>
          </a:xfrm>
          <a:prstGeom prst="rect">
            <a:avLst/>
          </a:prstGeom>
          <a:solidFill>
            <a:srgbClr val="FA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57875"/>
            <a:ext cx="47625" cy="466725"/>
          </a:xfrm>
          <a:prstGeom prst="rect">
            <a:avLst/>
          </a:prstGeom>
          <a:solidFill>
            <a:srgbClr val="FE64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943992"/>
            <a:ext cx="10820400" cy="31718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43992"/>
          <a:ext cx="10820399" cy="31718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13298"/>
                <a:gridCol w="4003476"/>
                <a:gridCol w="4003625"/>
              </a:tblGrid>
              <a:tr h="528637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C6D0F5"/>
                          </a:solidFill>
                          <a:latin typeface="Plus Jakarta Sans"/>
                        </a:rPr>
                        <a:t>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4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A5ADCE"/>
                          </a:solidFill>
                          <a:latin typeface="Plus Jakarta Sans"/>
                        </a:rPr>
                        <a:t>Cara Lama (Manual)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4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AB387"/>
                          </a:solidFill>
                          <a:latin typeface="Plus Jakarta Sans"/>
                        </a:rPr>
                        <a:t>Solusi BriefMe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446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C4F69"/>
                          </a:solidFill>
                          <a:latin typeface="Plus Jakarta Sans"/>
                        </a:rPr>
                        <a:t>Waktu Per Sesi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C6F85"/>
                          </a:solidFill>
                          <a:latin typeface="Plus Jakarta Sans"/>
                        </a:rPr>
                        <a:t>20–30 menit (melelahkan)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79299"/>
                          </a:solidFill>
                          <a:latin typeface="Plus Jakarta Sans"/>
                        </a:rPr>
                        <a:t>Sekitar 2 menit ringkas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C4F69"/>
                          </a:solidFill>
                          <a:latin typeface="Plus Jakarta Sans"/>
                        </a:rPr>
                        <a:t>Format CBT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C6F85"/>
                          </a:solidFill>
                          <a:latin typeface="Plus Jakarta Sans"/>
                        </a:rPr>
                        <a:t>Perlu panduan atau buku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79299"/>
                          </a:solidFill>
                          <a:latin typeface="Plus Jakarta Sans"/>
                        </a:rPr>
                        <a:t>Otomatisasi Thought Record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C4F69"/>
                          </a:solidFill>
                          <a:latin typeface="Plus Jakarta Sans"/>
                        </a:rPr>
                        <a:t>Aksesbilitas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C6F85"/>
                          </a:solidFill>
                          <a:latin typeface="Plus Jakarta Sans"/>
                        </a:rPr>
                        <a:t>Bergantung jadwal terapis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79299"/>
                          </a:solidFill>
                          <a:latin typeface="Plus Jakarta Sans"/>
                        </a:rPr>
                        <a:t>Siaga daring 24/7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C4F69"/>
                          </a:solidFill>
                          <a:latin typeface="Plus Jakarta Sans"/>
                        </a:rPr>
                        <a:t>Hasil Dokumen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C6F85"/>
                          </a:solidFill>
                          <a:latin typeface="Plus Jakarta Sans"/>
                        </a:rPr>
                        <a:t>Tulisan tangan tidak rapi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79299"/>
                          </a:solidFill>
                          <a:latin typeface="Plus Jakarta Sans"/>
                        </a:rPr>
                        <a:t>Berkas .docx siap cetak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5286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C4F69"/>
                          </a:solidFill>
                          <a:latin typeface="Plus Jakarta Sans"/>
                        </a:rPr>
                        <a:t>Konsistensi Sesi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C6F85"/>
                          </a:solidFill>
                          <a:latin typeface="Plus Jakarta Sans"/>
                        </a:rPr>
                        <a:t>Sering terputus di tengah jalan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79299"/>
                          </a:solidFill>
                          <a:latin typeface="Plus Jakarta Sans"/>
                        </a:rPr>
                        <a:t>Struktur konsisten setiap saat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33400"/>
            <a:ext cx="1150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ixelify Sans"/>
              </a:rPr>
              <a:t>✦ METODE LAMA VS BRIEFME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9057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4C4F69"/>
                </a:solidFill>
                <a:latin typeface="Plus Jakarta Sans"/>
              </a:rPr>
              <a:t>Efisiensi dari 20–30 Menit Menjadi Hanya 2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2975" y="5991225"/>
            <a:ext cx="112490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839EF"/>
                </a:solidFill>
                <a:latin typeface="Plus Jakarta Sans"/>
              </a:rPr>
              <a:t>"BriefMe bukan pengganti terapis, melainkan jembatan menuju sesi yang lebih siap."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00700"/>
            <a:ext cx="5314950" cy="723900"/>
          </a:xfrm>
          <a:prstGeom prst="roundRect">
            <a:avLst>
              <a:gd name="adj" fmla="val 15789"/>
            </a:avLst>
          </a:prstGeom>
          <a:solidFill>
            <a:srgbClr val="E6E9E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5600700"/>
            <a:ext cx="5314950" cy="723900"/>
          </a:xfrm>
          <a:prstGeom prst="roundRect">
            <a:avLst>
              <a:gd name="adj" fmla="val 15789"/>
            </a:avLst>
          </a:prstGeom>
          <a:solidFill>
            <a:srgbClr val="E6E9E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201167"/>
            <a:ext cx="3302049" cy="1114425"/>
          </a:xfrm>
          <a:prstGeom prst="roundRect">
            <a:avLst>
              <a:gd name="adj" fmla="val 11965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45049" y="2201167"/>
            <a:ext cx="3302049" cy="1114425"/>
          </a:xfrm>
          <a:prstGeom prst="roundRect">
            <a:avLst>
              <a:gd name="adj" fmla="val 11965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04299" y="2201167"/>
            <a:ext cx="3302049" cy="1114425"/>
          </a:xfrm>
          <a:prstGeom prst="roundRect">
            <a:avLst>
              <a:gd name="adj" fmla="val 11965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487042"/>
            <a:ext cx="3302049" cy="1114425"/>
          </a:xfrm>
          <a:prstGeom prst="roundRect">
            <a:avLst>
              <a:gd name="adj" fmla="val 11965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45049" y="3487042"/>
            <a:ext cx="3302049" cy="1114425"/>
          </a:xfrm>
          <a:prstGeom prst="roundRect">
            <a:avLst>
              <a:gd name="adj" fmla="val 11965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04299" y="3487042"/>
            <a:ext cx="3302049" cy="1114425"/>
          </a:xfrm>
          <a:prstGeom prst="roundRect">
            <a:avLst>
              <a:gd name="adj" fmla="val 11965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49" y="2672655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499" y="2672655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49" y="3958530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499" y="3958530"/>
            <a:ext cx="1524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33400"/>
            <a:ext cx="1150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ixelify Sans"/>
              </a:rPr>
              <a:t>✦ KEUNGGULAN TEKNIS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9057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4C4F69"/>
                </a:solidFill>
                <a:latin typeface="Plus Jakarta Sans"/>
              </a:rPr>
              <a:t>Arsitektur Rapi, Aman, dan Skalabel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91667"/>
            <a:ext cx="2940099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66F5"/>
                </a:solidFill>
                <a:latin typeface="Plus Jakarta Sans"/>
              </a:rPr>
              <a:t>FRONTEND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649" y="2391667"/>
            <a:ext cx="2940099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79299"/>
                </a:solidFill>
                <a:latin typeface="Plus Jakarta Sans"/>
              </a:rPr>
              <a:t>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899" y="2391667"/>
            <a:ext cx="2940099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AI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77542"/>
            <a:ext cx="2940099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66F5"/>
                </a:solidFill>
                <a:latin typeface="Plus Jakarta Sans"/>
              </a:rPr>
              <a:t>SECURE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649" y="3677542"/>
            <a:ext cx="2940099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79299"/>
                </a:solidFill>
                <a:latin typeface="Plus Jakarta Sans"/>
              </a:rPr>
              <a:t>GUARD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899" y="3677542"/>
            <a:ext cx="2940099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DATA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" y="5762625"/>
            <a:ext cx="4972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C4F69"/>
                </a:solidFill>
                <a:latin typeface="Plus Jakarta Sans"/>
              </a:rPr>
              <a:t>🔒 </a:t>
            </a:r>
            <a:r>
              <a:rPr b="1" sz="1200" i="0" u="none">
                <a:solidFill>
                  <a:srgbClr val="8839EF"/>
                </a:solidFill>
                <a:latin typeface="Plus Jakarta Sans"/>
              </a:rPr>
              <a:t>Zero Credential Leak:</a:t>
            </a:r>
            <a:r>
              <a:rPr b="1" sz="1200" i="0" u="none">
                <a:solidFill>
                  <a:srgbClr val="4C4F69"/>
                </a:solidFill>
                <a:latin typeface="Plus Jakarta Sans"/>
              </a:rPr>
              <a:t> API Key tersimpan di proxy server, tidak pernah bocor ke frontend.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0325" y="5762625"/>
            <a:ext cx="4972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C4F69"/>
                </a:solidFill>
                <a:latin typeface="Plus Jakarta Sans"/>
              </a:rPr>
              <a:t>📄 </a:t>
            </a:r>
            <a:r>
              <a:rPr b="1" sz="1200" i="0" u="none">
                <a:solidFill>
                  <a:srgbClr val="179299"/>
                </a:solidFill>
                <a:latin typeface="Plus Jakarta Sans"/>
              </a:rPr>
              <a:t>Local File Generation:</a:t>
            </a:r>
            <a:r>
              <a:rPr b="1" sz="1200" i="0" u="none">
                <a:solidFill>
                  <a:srgbClr val="4C4F69"/>
                </a:solidFill>
                <a:latin typeface="Plus Jakarta Sans"/>
              </a:rPr>
              <a:t> Berkas .docx dibuat langsung di peramban pengguna tanpa log server.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263931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C4F69"/>
                </a:solidFill>
                <a:latin typeface="Plus Jakarta Sans"/>
              </a:rPr>
              <a:t>Web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2915542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C6F85"/>
                </a:solidFill>
                <a:latin typeface="Plus Jakarta Sans"/>
              </a:rPr>
              <a:t>React + Vite + TypeScript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3174" y="263931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C4F69"/>
                </a:solidFill>
                <a:latin typeface="Plus Jakarta Sans"/>
              </a:rPr>
              <a:t>IBM Langflow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3174" y="2915542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C6F85"/>
                </a:solidFill>
                <a:latin typeface="Plus Jakarta Sans"/>
              </a:rPr>
              <a:t>Flow Multi-Mode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424" y="263931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C4F69"/>
                </a:solidFill>
                <a:latin typeface="Plus Jakarta Sans"/>
              </a:rPr>
              <a:t>IBM Bob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2424" y="2915542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C6F85"/>
                </a:solidFill>
                <a:latin typeface="Plus Jakarta Sans"/>
              </a:rPr>
              <a:t>Ekstraksi Kognitif CBT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" y="3925192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C4F69"/>
                </a:solidFill>
                <a:latin typeface="Plus Jakarta Sans"/>
              </a:rPr>
              <a:t>Web UI Proxy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" y="4201417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C6F85"/>
                </a:solidFill>
                <a:latin typeface="Plus Jakarta Sans"/>
              </a:rPr>
              <a:t>Injeksi Kredensial Aman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3174" y="3925192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C4F69"/>
                </a:solidFill>
                <a:latin typeface="Plus Jakarta Sans"/>
              </a:rPr>
              <a:t>Express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3174" y="4201417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C6F85"/>
                </a:solidFill>
                <a:latin typeface="Plus Jakarta Sans"/>
              </a:rPr>
              <a:t>Validasi Ulang Guardrail G5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2424" y="3925192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C4F69"/>
                </a:solidFill>
                <a:latin typeface="Plus Jakarta Sans"/>
              </a:rPr>
              <a:t>MongoDB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2424" y="4201417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C6F85"/>
                </a:solidFill>
                <a:latin typeface="Plus Jakarta Sans"/>
              </a:rPr>
              <a:t>Penyimpanan Terenkripsi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78946"/>
            <a:ext cx="10820400" cy="945653"/>
          </a:xfrm>
          <a:prstGeom prst="roundRect">
            <a:avLst>
              <a:gd name="adj" fmla="val 14101"/>
            </a:avLst>
          </a:prstGeom>
          <a:solidFill>
            <a:srgbClr val="E6E9E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528441"/>
            <a:ext cx="25622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38525" y="2528441"/>
            <a:ext cx="25622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242691"/>
            <a:ext cx="2562225" cy="20955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43975" y="2423666"/>
            <a:ext cx="2562225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5718423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ixelify Sans"/>
              </a:rPr>
              <a:t>✦ VALIDASI &amp; PENGUJIAN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9057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4C4F69"/>
                </a:solidFill>
                <a:latin typeface="Plus Jakarta Sans"/>
              </a:rPr>
              <a:t>Bukan Sekadar Ide: Teruji dan Siap Pakai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8275" y="5617071"/>
            <a:ext cx="9867900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0" sz="1275" i="0" u="none">
                <a:solidFill>
                  <a:srgbClr val="4C4F69"/>
                </a:solidFill>
                <a:latin typeface="Plus Jakarta Sans"/>
              </a:rPr>
              <a:t>Verifikasi otomatis mencakup pemeriksaan kebocoran data pribadi (PII), audit format tabel Thought Record, serta pencegahan injeksi prompt liar.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178" y="2842766"/>
            <a:ext cx="2607468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1" sz="4500" i="0" u="none">
                <a:solidFill>
                  <a:srgbClr val="0F172A"/>
                </a:solidFill>
                <a:latin typeface="Pixelify Sans"/>
              </a:rPr>
              <a:t>1 Hari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178" y="3528566"/>
            <a:ext cx="26074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5C5F77"/>
                </a:solidFill>
                <a:latin typeface="Plus Jakarta Sans"/>
              </a:rPr>
              <a:t>MVP End-to-End Siap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5903" y="2842766"/>
            <a:ext cx="2607468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1" sz="4500" i="0" u="none">
                <a:solidFill>
                  <a:srgbClr val="7287FD"/>
                </a:solidFill>
                <a:latin typeface="Pixelify Sans"/>
              </a:rPr>
              <a:t>25/25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5903" y="3528566"/>
            <a:ext cx="26074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5C5F77"/>
                </a:solidFill>
                <a:latin typeface="Plus Jakarta Sans"/>
              </a:rPr>
              <a:t>Uji Playwright Lolos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8628" y="2557016"/>
            <a:ext cx="260746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1" sz="4500" i="0" u="none">
                <a:solidFill>
                  <a:srgbClr val="179299"/>
                </a:solidFill>
                <a:latin typeface="Pixelify Sans"/>
              </a:rPr>
              <a:t>20.0 dtk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8628" y="3814316"/>
            <a:ext cx="26074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5C5F77"/>
                </a:solidFill>
                <a:latin typeface="Plus Jakarta Sans"/>
              </a:rPr>
              <a:t>Eksekusi Flow Lengkap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1353" y="2737991"/>
            <a:ext cx="2607468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1" sz="4500" i="0" u="none">
                <a:solidFill>
                  <a:srgbClr val="8839EF"/>
                </a:solidFill>
                <a:latin typeface="Pixelify Sans"/>
              </a:rPr>
              <a:t>G1–G5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1353" y="3423791"/>
            <a:ext cx="2607468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5C5F77"/>
                </a:solidFill>
                <a:latin typeface="Plus Jakarta Sans"/>
              </a:rPr>
              <a:t>Pelanggaran Ditolak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933926"/>
            <a:ext cx="10820400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090291"/>
            <a:ext cx="2576512" cy="1381125"/>
          </a:xfrm>
          <a:prstGeom prst="roundRect">
            <a:avLst>
              <a:gd name="adj" fmla="val 9655"/>
            </a:avLst>
          </a:prstGeom>
          <a:solidFill>
            <a:srgbClr val="313244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33762" y="2090291"/>
            <a:ext cx="2576512" cy="1381125"/>
          </a:xfrm>
          <a:prstGeom prst="roundRect">
            <a:avLst>
              <a:gd name="adj" fmla="val 9655"/>
            </a:avLst>
          </a:prstGeom>
          <a:solidFill>
            <a:srgbClr val="313244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81725" y="2090291"/>
            <a:ext cx="2576512" cy="1381125"/>
          </a:xfrm>
          <a:prstGeom prst="roundRect">
            <a:avLst>
              <a:gd name="adj" fmla="val 9655"/>
            </a:avLst>
          </a:prstGeom>
          <a:solidFill>
            <a:srgbClr val="313244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29687" y="2090291"/>
            <a:ext cx="2576512" cy="1381125"/>
          </a:xfrm>
          <a:prstGeom prst="roundRect">
            <a:avLst>
              <a:gd name="adj" fmla="val 9655"/>
            </a:avLst>
          </a:prstGeom>
          <a:solidFill>
            <a:srgbClr val="313244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90725" y="4397871"/>
            <a:ext cx="1533525" cy="314325"/>
          </a:xfrm>
          <a:prstGeom prst="roundRect">
            <a:avLst>
              <a:gd name="adj" fmla="val 24242"/>
            </a:avLst>
          </a:prstGeom>
          <a:solidFill>
            <a:srgbClr val="181825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38550" y="4397871"/>
            <a:ext cx="1924050" cy="314325"/>
          </a:xfrm>
          <a:prstGeom prst="roundRect">
            <a:avLst>
              <a:gd name="adj" fmla="val 24242"/>
            </a:avLst>
          </a:prstGeom>
          <a:solidFill>
            <a:srgbClr val="181825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76900" y="4397871"/>
            <a:ext cx="1781175" cy="314325"/>
          </a:xfrm>
          <a:prstGeom prst="roundRect">
            <a:avLst>
              <a:gd name="adj" fmla="val 24242"/>
            </a:avLst>
          </a:prstGeom>
          <a:solidFill>
            <a:srgbClr val="181825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72375" y="4397871"/>
            <a:ext cx="2238375" cy="314325"/>
          </a:xfrm>
          <a:prstGeom prst="roundRect">
            <a:avLst>
              <a:gd name="adj" fmla="val 24242"/>
            </a:avLst>
          </a:prstGeom>
          <a:solidFill>
            <a:srgbClr val="181825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4826496"/>
            <a:ext cx="1762125" cy="314325"/>
          </a:xfrm>
          <a:prstGeom prst="roundRect">
            <a:avLst>
              <a:gd name="adj" fmla="val 24242"/>
            </a:avLst>
          </a:prstGeom>
          <a:solidFill>
            <a:srgbClr val="181825"/>
          </a:solidFill>
          <a:ln w="9525">
            <a:solidFill>
              <a:srgbClr val="4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5933926"/>
            <a:ext cx="10820400" cy="9525"/>
          </a:xfrm>
          <a:prstGeom prst="rect">
            <a:avLst/>
          </a:prstGeom>
          <a:solidFill>
            <a:srgbClr val="31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5300"/>
            <a:ext cx="1150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AB387"/>
                </a:solidFill>
                <a:latin typeface="Pixelify Sans"/>
              </a:rPr>
              <a:t>✦ SKALABILITAS &amp; MASA DEPAN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75247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CDD6F4"/>
                </a:solidFill>
                <a:latin typeface="Plus Jakarta Sans"/>
              </a:rPr>
              <a:t>Dari Self-Help Menuju Ekosistem Terapi 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299841"/>
            <a:ext cx="2290762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AB387"/>
                </a:solidFill>
                <a:latin typeface="Plus Jakarta Sans"/>
              </a:rPr>
              <a:t>FASE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4262" y="2299841"/>
            <a:ext cx="2290762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9B4FA"/>
                </a:solidFill>
                <a:latin typeface="Plus Jakarta Sans"/>
              </a:rPr>
              <a:t>FASE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225" y="2299841"/>
            <a:ext cx="2290762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5C2E7"/>
                </a:solidFill>
                <a:latin typeface="Plus Jakarta Sans"/>
              </a:rPr>
              <a:t>FASE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0187" y="2299841"/>
            <a:ext cx="2290762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E2D5"/>
                </a:solidFill>
                <a:latin typeface="Plus Jakarta Sans"/>
              </a:rPr>
              <a:t>FASE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69308"/>
            <a:ext cx="1488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BEFE"/>
                </a:solidFill>
                <a:latin typeface="Plus Jakarta Sans"/>
              </a:rPr>
              <a:t>PENGEMBANGAN: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4075" y="4455021"/>
            <a:ext cx="13620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DD6F4"/>
                </a:solidFill>
                <a:latin typeface="Plus Jakarta Sans"/>
              </a:rPr>
              <a:t>Tren Mood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0" y="4455021"/>
            <a:ext cx="1752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DD6F4"/>
                </a:solidFill>
                <a:latin typeface="Plus Jakarta Sans"/>
              </a:rPr>
              <a:t>Dukungan Multi-Bahasa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0250" y="4455021"/>
            <a:ext cx="1609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DD6F4"/>
                </a:solidFill>
                <a:latin typeface="Plus Jakarta Sans"/>
              </a:rPr>
              <a:t>Pengingat Sesi Harian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5725" y="4455021"/>
            <a:ext cx="20669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DD6F4"/>
                </a:solidFill>
                <a:latin typeface="Plus Jakarta Sans"/>
              </a:rPr>
              <a:t>Kolaborasi Terapis (Consent)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4883646"/>
            <a:ext cx="1590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DD6F4"/>
                </a:solidFill>
                <a:latin typeface="Plus Jakarta Sans"/>
              </a:rPr>
              <a:t>Ekspor PDF Otomatis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14901"/>
            <a:ext cx="71556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AB387"/>
                </a:solidFill>
                <a:latin typeface="Pixelify Sans"/>
              </a:rPr>
              <a:t>"Curhat dulu, terstruktur kemudian, terapi lebih siap."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7850" y="6138713"/>
            <a:ext cx="25479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A6ADC8"/>
                </a:solidFill>
                <a:latin typeface="Plus Jakarta Sans"/>
              </a:rPr>
              <a:t> BriefMe • IBM Build-A-Thon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" y="2566541"/>
            <a:ext cx="285660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CDD6F4"/>
                </a:solidFill>
                <a:latin typeface="Plus Jakarta Sans"/>
              </a:rPr>
              <a:t>Individu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5" y="2852291"/>
            <a:ext cx="22717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A6ADC8"/>
                </a:solidFill>
                <a:latin typeface="Plus Jakarta Sans"/>
              </a:rPr>
              <a:t>Self-help journaling harian mandiri.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3787" y="2566541"/>
            <a:ext cx="285660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CDD6F4"/>
                </a:solidFill>
                <a:latin typeface="Plus Jakarta Sans"/>
              </a:rPr>
              <a:t>Kampus &amp; Klinik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3787" y="2852291"/>
            <a:ext cx="22717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A6ADC8"/>
                </a:solidFill>
                <a:latin typeface="Plus Jakarta Sans"/>
              </a:rPr>
              <a:t>Multi-user dan dashboard konselor.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1750" y="2566541"/>
            <a:ext cx="285660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CDD6F4"/>
                </a:solidFill>
                <a:latin typeface="Plus Jakarta Sans"/>
              </a:rPr>
              <a:t>Perusahaan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2852291"/>
            <a:ext cx="22717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A6ADC8"/>
                </a:solidFill>
                <a:latin typeface="Plus Jakarta Sans"/>
              </a:rPr>
              <a:t>Integrasi Employee Assistance (EAP).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9712" y="2566541"/>
            <a:ext cx="285660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CDD6F4"/>
                </a:solidFill>
                <a:latin typeface="Plus Jakarta Sans"/>
              </a:rPr>
              <a:t>Program Publik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9712" y="2852291"/>
            <a:ext cx="22717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A6ADC8"/>
                </a:solidFill>
                <a:latin typeface="Plus Jakarta Sans"/>
              </a:rPr>
              <a:t>Layanan kesehatan mental publik.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